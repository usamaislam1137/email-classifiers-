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E40A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0.746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XGBoost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0.705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5852160" cy="5033772"/>
          </a:xfrm>
          <a:prstGeom prst="rect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852160" y="109728"/>
            <a:ext cx="3291840" cy="50337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0" y="731520"/>
            <a:ext cx="2926080" cy="2926080"/>
          </a:xfrm>
          <a:prstGeom prst="ellipse">
            <a:avLst/>
          </a:prstGeom>
          <a:solidFill>
            <a:srgbClr val="3B82F6">
              <a:alpha val="12000"/>
            </a:srgbClr>
          </a:solidFill>
          <a:ln w="190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0" y="1188720"/>
            <a:ext cx="2011680" cy="20116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960120"/>
            <a:ext cx="237744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60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DISSERTATION  ·  2026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02920" y="1417320"/>
            <a:ext cx="51206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Email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Classifier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02920" y="3182112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a computer to read your emails and decide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ones need your attention first.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4041648"/>
            <a:ext cx="22860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4160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44622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ID: U2911515  ·  Supervised by: University of East London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4672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Computer Science &amp; Digital Technologies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3703320"/>
            <a:ext cx="2286000" cy="219456"/>
          </a:xfrm>
          <a:prstGeom prst="rect">
            <a:avLst/>
          </a:prstGeom>
          <a:solidFill>
            <a:srgbClr val="DC2626">
              <a:alpha val="80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7033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6172200" y="3986784"/>
            <a:ext cx="2286000" cy="219456"/>
          </a:xfrm>
          <a:prstGeom prst="rect">
            <a:avLst/>
          </a:prstGeom>
          <a:solidFill>
            <a:srgbClr val="D97706">
              <a:alpha val="80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72200" y="398678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72200" y="4270248"/>
            <a:ext cx="2286000" cy="219456"/>
          </a:xfrm>
          <a:prstGeom prst="rect">
            <a:avLst/>
          </a:prstGeom>
          <a:solidFill>
            <a:srgbClr val="0D9488">
              <a:alpha val="80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427024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172200" y="4553712"/>
            <a:ext cx="2286000" cy="219456"/>
          </a:xfrm>
          <a:prstGeom prst="rect">
            <a:avLst/>
          </a:prstGeom>
          <a:solidFill>
            <a:srgbClr val="94A3B8">
              <a:alpha val="80000"/>
            </a:srgbClr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455371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172200" y="34564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Priority Levels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—  Too Many Emails, Too Little Time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0515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051560"/>
            <a:ext cx="54864" cy="21031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1170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548640" y="1993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emails received per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every day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992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Radicati Group, 2023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200400" y="10515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0" y="1051560"/>
            <a:ext cx="54864" cy="2103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170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3383280" y="1993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working week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email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29992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Global Institute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035040" y="1051560"/>
            <a:ext cx="2651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035040" y="1051560"/>
            <a:ext cx="54864" cy="21031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17920" y="117043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23m</a:t>
            </a:r>
            <a:endParaRPr lang="en-US" sz="4600" dirty="0"/>
          </a:p>
        </p:txBody>
      </p:sp>
      <p:sp>
        <p:nvSpPr>
          <p:cNvPr id="22" name="Text 20"/>
          <p:cNvSpPr/>
          <p:nvPr/>
        </p:nvSpPr>
        <p:spPr>
          <a:xfrm>
            <a:off x="6217920" y="199339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every time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switch tasks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126480" y="2999232"/>
            <a:ext cx="2514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Mark, Gudith &amp; Klocke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65760" y="3337560"/>
            <a:ext cx="8412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3337560"/>
            <a:ext cx="54864" cy="1417320"/>
          </a:xfrm>
          <a:prstGeom prst="rect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340156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current tools fall short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66928" y="3712464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email apps still use simple rules — things like keyword lists or sender filters. These break easily. If someone writes 'please respond ASAP' in a slightly different way, the rule misses it. One overlooked urgent email can cost a deadline, a deal, or an exam slot. What we need is a system smart enough to understand the message — not just scan for keywords.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 —  Let AI Decide What Needs Attention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54864" cy="36576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789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2920" y="150876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148132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every email you receive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20756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2048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sender, subject, and message body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264261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26151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each email a priority label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320954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3182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you why it made that decision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377647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 full history you can search anytime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709160" y="102412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priority levels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371600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1371600"/>
            <a:ext cx="54864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28032" y="1508760"/>
            <a:ext cx="91440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28032" y="150876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833872" y="144475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action right now. Don't wait.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33872" y="171907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server down, breach detected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176272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2176272"/>
            <a:ext cx="54864" cy="713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2313432"/>
            <a:ext cx="91440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28032" y="23134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833872" y="22494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attention today.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833872" y="252374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meeting request, deadline reminder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709160" y="2980944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2980944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28032" y="3118104"/>
            <a:ext cx="91440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28032" y="31181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833872" y="305409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when you get a chance.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33872" y="332841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routine update, a question from a colleague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785616"/>
            <a:ext cx="4114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9160" y="3785616"/>
            <a:ext cx="54864" cy="7132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28032" y="3922776"/>
            <a:ext cx="914400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28032" y="392277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833872" y="3858768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rush — or skip entirely.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833872" y="413308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newsletter, automatic digest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Works  —  A Simple Look Inside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5720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51560" y="1207008"/>
            <a:ext cx="640080" cy="64008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Email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2311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Sender, subject,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&amp; date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331720" y="1965960"/>
            <a:ext cx="2011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0" y="186537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56032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207008"/>
            <a:ext cx="640080" cy="640080"/>
          </a:xfrm>
          <a:prstGeom prst="ellipse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60604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06040" y="22311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scores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message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434840" y="1965960"/>
            <a:ext cx="2011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186537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6344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257800" y="1207008"/>
            <a:ext cx="640080" cy="64008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5780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0916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Label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09160" y="22311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/ High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/ Low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37960" y="1965960"/>
            <a:ext cx="201168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1865376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766560" y="1097280"/>
            <a:ext cx="18288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360920" y="1207008"/>
            <a:ext cx="640080" cy="64008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60920" y="1207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6812280" y="19385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 (SHAP)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812280" y="223113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words that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drove the score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11480" y="3127248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parts working together: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11480" y="3456432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11480" y="3456432"/>
            <a:ext cx="54864" cy="128016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94360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(The Brain)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94360" y="384048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the AI, makes predictions, and explains each decision. Runs as a web service so any app can talk to it.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754880" y="3456432"/>
            <a:ext cx="40690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54880" y="3456432"/>
            <a:ext cx="54864" cy="12801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0" y="35295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Rails Dashboard (The Face)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37760" y="3840480"/>
            <a:ext cx="37490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 website where you can paste an email, see the priority result, and browse your email history.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 —  Where Did the Emails Come From?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420624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54864" cy="27432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789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sources used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11480" y="1417320"/>
            <a:ext cx="1554480" cy="3840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" y="141732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965960" y="1417320"/>
            <a:ext cx="1600200" cy="3840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020824" y="141732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566160" y="1417320"/>
            <a:ext cx="914400" cy="384048"/>
          </a:xfrm>
          <a:prstGeom prst="rect">
            <a:avLst/>
          </a:prstGeom>
          <a:solidFill>
            <a:srgbClr val="0F2044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21024" y="14173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11480" y="1837944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" y="1837944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Enron Emails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965960" y="1837944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20824" y="1837944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company emails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566160" y="1837944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1024" y="1837944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~500,000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11480" y="2258568"/>
            <a:ext cx="155448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" y="2258568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SpamAssassin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1965960" y="2258568"/>
            <a:ext cx="16002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20824" y="2258568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 &amp; spam reference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566160" y="2258568"/>
            <a:ext cx="9144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21024" y="2258568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~6,000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2679192"/>
            <a:ext cx="155448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" y="267919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sample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965960" y="2679192"/>
            <a:ext cx="1600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20824" y="2679192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training &amp; testing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566160" y="2679192"/>
            <a:ext cx="9144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21024" y="2679192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4,000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11480" y="3099816"/>
            <a:ext cx="155448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66344" y="3099816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 (held out)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965960" y="3099816"/>
            <a:ext cx="16002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20824" y="3099816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only for final scoring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566160" y="3099816"/>
            <a:ext cx="91440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21024" y="3099816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11480" y="3547872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used a sample of 4,000 emails so the system could run on a normal laptop.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1005840"/>
            <a:ext cx="4114800" cy="3913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09160" y="1005840"/>
            <a:ext cx="54864" cy="39136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labelled the emails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92040" y="138988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looked for specific words and phrases in each email to assign a label: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828032" y="1874520"/>
            <a:ext cx="960120" cy="21945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28032" y="1874520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828032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"urgent", "ASAP", "action required", "breach detected"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828032" y="2587752"/>
            <a:ext cx="960120" cy="21945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28032" y="2587752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828032" y="28437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"deadline", "please respond", "by end of day", "sign-off needed"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828032" y="3300984"/>
            <a:ext cx="96012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28032" y="3300984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4828032" y="355701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"quick update", "sharing for awareness", "routine check-in"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828032" y="4014216"/>
            <a:ext cx="960120" cy="21945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828032" y="4014216"/>
            <a:ext cx="960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4828032" y="42702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"FYI", "newsletter", "unsubscribe", "view in browser"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Models  —  Four Approaches, One Winner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87552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tested four different AI models and compared how well each one works: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353312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1353312"/>
            <a:ext cx="54864" cy="164592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1554480"/>
            <a:ext cx="457200" cy="457200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69848" y="15179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69848" y="17739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rule-follower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4632" y="2103120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which words point to each priority and uses a straightforward formula to decide. Fast to train and easy to understand — great as a starting point.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353312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54880" y="1353312"/>
            <a:ext cx="54864" cy="16459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919472" y="155448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19472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04688" y="151790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504688" y="177393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from many decision trees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19472" y="2103120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hundreds of decision trees and lets them vote. Good at picking up patterns that a single rule would miss.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136392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" y="3136392"/>
            <a:ext cx="54864" cy="16459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" y="3337560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4632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69848" y="33009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069848" y="35570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from its own mistakes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" y="3886200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one after another — each new tree tries to fix the errors the previous ones made. Very accurate on structured data.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3136392"/>
            <a:ext cx="42062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3136392"/>
            <a:ext cx="54864" cy="1645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19472" y="3337560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9472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504688" y="33009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504688" y="3557016"/>
            <a:ext cx="3291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like a human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19472" y="3886200"/>
            <a:ext cx="385876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pre-trained language model that understands the meaning of sentences, not just individual words. Most powerful — but requires more computing power.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 —  How Well Did Each Model Perform?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601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800 emails the AI had never seen before. Two scores matter: Accuracy and F1.</a:t>
            </a:r>
            <a:endParaRPr lang="en-US" sz="11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320040" y="1298448"/>
          <a:ext cx="50292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5486400" y="129844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486400" y="1298448"/>
            <a:ext cx="54864" cy="987552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50992" y="13898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Regression: 74.6% accurate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650992" y="164592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simplest model still got 3 out of 4 emails right on unseen data — a solid result for our baseline.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486400" y="239572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0" y="2395728"/>
            <a:ext cx="54864" cy="9875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50992" y="24871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&amp; XGBoost: 100%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50992" y="27432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scores — but this is because our labels were created by rules. These models memorised the rules perfectly. This is expected.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486400" y="3493008"/>
            <a:ext cx="333756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486400" y="3493008"/>
            <a:ext cx="54864" cy="9875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50992" y="358444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honest benchmark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650992" y="384048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gives the most realistic picture of how well the system would do on brand-new, real-world emails.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It Go Wrong?  —  A Look at the Mistakes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9601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at where Logistic Regression made errors — the model we'd use in the real world.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  /  Predicted →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280160" y="1325880"/>
            <a:ext cx="914400" cy="33284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194560" y="1325880"/>
            <a:ext cx="914400" cy="33284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945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08960" y="1325880"/>
            <a:ext cx="914400" cy="33284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0" y="1325880"/>
            <a:ext cx="914400" cy="33284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23360" y="1325880"/>
            <a:ext cx="914400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1658722"/>
            <a:ext cx="9144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280160" y="1658722"/>
            <a:ext cx="9144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2194560" y="1658722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945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108960" y="1658722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089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023360" y="1658722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023360" y="1658722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65760" y="2134210"/>
            <a:ext cx="9144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280160" y="2134210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801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194560" y="2134210"/>
            <a:ext cx="9144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945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164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108960" y="2134210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089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023360" y="2134210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23360" y="2134210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65760" y="2609698"/>
            <a:ext cx="9144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280160" y="2609698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2801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194560" y="2609698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945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3108960" y="2609698"/>
            <a:ext cx="9144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089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297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023360" y="2609698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023360" y="2609698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65760" y="3085186"/>
            <a:ext cx="914400" cy="475488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280160" y="3085186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801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194560" y="3085186"/>
            <a:ext cx="9144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1945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108960" y="3085186"/>
            <a:ext cx="914400" cy="475488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1089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023360" y="3085186"/>
            <a:ext cx="914400" cy="475488"/>
          </a:xfrm>
          <a:prstGeom prst="rect">
            <a:avLst/>
          </a:prstGeom>
          <a:solidFill>
            <a:srgbClr val="0D9488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23360" y="3085186"/>
            <a:ext cx="914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65760" y="3652114"/>
            <a:ext cx="182880" cy="1645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4360" y="365211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417320" y="3652114"/>
            <a:ext cx="182880" cy="164592"/>
          </a:xfrm>
          <a:prstGeom prst="rect">
            <a:avLst/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645920" y="365211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Notable error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74920" y="126187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  <p:sp>
        <p:nvSpPr>
          <p:cNvPr id="64" name="Shape 62"/>
          <p:cNvSpPr/>
          <p:nvPr/>
        </p:nvSpPr>
        <p:spPr>
          <a:xfrm>
            <a:off x="5074920" y="1600200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5074920" y="1600200"/>
            <a:ext cx="54864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5212080" y="1819656"/>
            <a:ext cx="329184" cy="32918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5212080" y="18196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5632704" y="1746504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confused a Critical email for Low — that's the most important thing.</a:t>
            </a:r>
            <a:endParaRPr lang="en-US" sz="1050" dirty="0"/>
          </a:p>
        </p:txBody>
      </p:sp>
      <p:sp>
        <p:nvSpPr>
          <p:cNvPr id="69" name="Shape 67"/>
          <p:cNvSpPr/>
          <p:nvPr/>
        </p:nvSpPr>
        <p:spPr>
          <a:xfrm>
            <a:off x="5074920" y="2624328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5074920" y="2624328"/>
            <a:ext cx="54864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212080" y="2843784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212080" y="2843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5632704" y="277063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 Low emails got called Normal. These are the cheapest kind of mistake to make.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5074920" y="3648456"/>
            <a:ext cx="374904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5074920" y="3648456"/>
            <a:ext cx="54864" cy="86868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5212080" y="3867912"/>
            <a:ext cx="329184" cy="329184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212080" y="38679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78" name="Text 76"/>
          <p:cNvSpPr/>
          <p:nvPr/>
        </p:nvSpPr>
        <p:spPr>
          <a:xfrm>
            <a:off x="5632704" y="3794760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Critical emails slipped into High. Still urgent — just one level off.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64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04672" y="146304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Final Product  —  A Tool You Can Actually Use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0" y="896112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MSc AI  ·  University of East London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20040" y="100584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005840"/>
            <a:ext cx="54864" cy="3749040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 (the engine)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1444752"/>
            <a:ext cx="548640" cy="21945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144475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1078992" y="1444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/predict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16824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one email, get priority + reason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548640" cy="219456"/>
          </a:xfrm>
          <a:prstGeom prst="rect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1031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78992" y="210312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/batch_predict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340864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up to 100 emails at once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761488"/>
            <a:ext cx="54864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76148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078992" y="27614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/health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299923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the service is running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19856"/>
            <a:ext cx="548640" cy="21945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41985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1078992" y="34198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/model_info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57200" y="36576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which model is active &amp; its score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11480" y="4133088"/>
            <a:ext cx="4023360" cy="53035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16966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"priority": "critical",  "confidence": 0.91,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0F20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"top_reason": "urgent",  "model": "xgboost" }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1005840"/>
            <a:ext cx="41605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1005840"/>
            <a:ext cx="54864" cy="37490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0789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Dashboard  (what you see)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800600" y="1499616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149047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66360" y="1719072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— total emails, priority breakdown chart, model status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2249424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166360" y="22402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166360" y="24688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in an email → instant priority + confidence + top word reasons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2999232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66360" y="29900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166360" y="321868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breakdown with a bar chart showing confidence for each level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3749040"/>
            <a:ext cx="274320" cy="27432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166360" y="373989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166360" y="39684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list of every email you've ever classified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663440" y="413308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with: Python · scikit-learn · XGBoost · SHAP · Flask  →  Ruby on Rails · Chart.js · Docker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1051560"/>
          </a:xfrm>
          <a:prstGeom prst="rect">
            <a:avLst/>
          </a:prstGeom>
          <a:solidFill>
            <a:srgbClr val="1A3466"/>
          </a:solidFill>
          <a:ln w="12700">
            <a:solidFill>
              <a:srgbClr val="1A346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228600"/>
            <a:ext cx="502920" cy="502920"/>
          </a:xfrm>
          <a:prstGeom prst="rect">
            <a:avLst/>
          </a:prstGeom>
          <a:solidFill>
            <a:srgbClr val="0D9488">
              <a:alpha val="70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743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 &amp;  What Comes Next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777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summary of what worked, what the limits are, and where this project could go from here.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298448"/>
            <a:ext cx="54864" cy="3520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1783080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556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simple model got 74.6% accuracy on emails it had never seen — clearing our target.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241401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and XGBoost confirmed our labelling was consistent (perfect fit on rule-based labels).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3099816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30723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never made the worst mistake: it never confused a Critical email for Low.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" y="3758184"/>
            <a:ext cx="201168" cy="2011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6384" y="3730752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product ships: API, dashboard, explanations, fallback safety net, Docker packaging.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298448"/>
            <a:ext cx="4160520" cy="3520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1298448"/>
            <a:ext cx="54864" cy="35204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3716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&amp; next steps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28032" y="1810512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20640" y="178308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were created by rules — the real next step is having humans check a sample and validate them.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28032" y="2468880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24414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(the language model) was capped at 1,000 steps due to hardware. More training could improve it.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28032" y="3127248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20640" y="3099816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"Low" vs "Normal" is still the main failure — 59 misclassifications need a smarter signal.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28032" y="3785616"/>
            <a:ext cx="201168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75818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not tested against people deliberately trying to trick the system with fake-urgent emails.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736592"/>
            <a:ext cx="9144000" cy="3017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0" y="4736592"/>
            <a:ext cx="5943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are welcome!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43600" y="4736592"/>
            <a:ext cx="3200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Usama Islam  ·  U2911515  ·  MSc AI, University of East London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Email Priority Classifier</dc:title>
  <dc:subject>PptxGenJS Presentation</dc:subject>
  <dc:creator>Muhammad Usama Islam</dc:creator>
  <cp:lastModifiedBy>Muhammad Usama Islam</cp:lastModifiedBy>
  <cp:revision>1</cp:revision>
  <dcterms:created xsi:type="dcterms:W3CDTF">2026-05-12T06:21:05Z</dcterms:created>
  <dcterms:modified xsi:type="dcterms:W3CDTF">2026-05-12T06:21:05Z</dcterms:modified>
</cp:coreProperties>
</file>
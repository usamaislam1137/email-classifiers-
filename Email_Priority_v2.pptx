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0.746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0.705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5852160" cy="5033772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09728"/>
            <a:ext cx="3291840" cy="50337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31520"/>
            <a:ext cx="2926080" cy="2926080"/>
          </a:xfrm>
          <a:prstGeom prst="ellipse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18872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60120"/>
            <a:ext cx="23774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DISSERTATION  · 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Classifier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computer to read your emails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which ones need your attention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041648"/>
            <a:ext cx="22860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U2911515  ·  University of East London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672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Digital Technologies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3703320"/>
            <a:ext cx="2286000" cy="219456"/>
          </a:xfrm>
          <a:prstGeom prst="rect">
            <a:avLst/>
          </a:prstGeom>
          <a:solidFill>
            <a:srgbClr val="DC2626">
              <a:alpha val="8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72200" y="3986784"/>
            <a:ext cx="2286000" cy="219456"/>
          </a:xfrm>
          <a:prstGeom prst="rect">
            <a:avLst/>
          </a:prstGeom>
          <a:solidFill>
            <a:srgbClr val="D97706">
              <a:alpha val="8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4270248"/>
            <a:ext cx="2286000" cy="219456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270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4553712"/>
            <a:ext cx="2286000" cy="219456"/>
          </a:xfrm>
          <a:prstGeom prst="rect">
            <a:avLst/>
          </a:prstGeom>
          <a:solidFill>
            <a:srgbClr val="94A3B8">
              <a:alpha val="8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5537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72200" y="3456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Priority Levels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—  Too Many Emails, Too Little Time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54864" cy="2103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170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4864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received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worker every 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Radicati Group, 2023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51560"/>
            <a:ext cx="54864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170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338328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working week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email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999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 Institute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3504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051560"/>
            <a:ext cx="54864" cy="2103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170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21792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switch tasks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999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Mark, Gudith &amp; Klocke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8412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37560"/>
            <a:ext cx="54864" cy="1417320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015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tools fall short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3712464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email apps still rely on hand-built rules — sender lists, keyword filters, folder rules. These break easily: if someone phrases their message slightly differently, the rule misses it. One missed urgent email can cost a deadline, a deal, or an exam slot. What we need is a system that actually understands the message.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 —  Let AI Decide What Needs Attention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54864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508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email — sender, subject, and body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048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email one of four priority labels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6426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615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words drove the decision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095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 full history you can search any 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77647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safe rules if confidence is too low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priority levels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3716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371600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508760"/>
            <a:ext cx="9144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508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33872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action right now.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33872" y="1719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server down, breach detected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17627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176272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2313432"/>
            <a:ext cx="9144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3134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33872" y="22494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 today.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33872" y="25237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meeting request, sign-off needed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98094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80944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118104"/>
            <a:ext cx="9144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118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33872" y="3054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when you get a chance.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33872" y="33284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routine update, colleague question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7856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785616"/>
            <a:ext cx="54864" cy="7132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3922776"/>
            <a:ext cx="914400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9227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33872" y="3858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rush — or skip entirely.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33872" y="4133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newsletter, automatic digest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 —  How Everything Fits Together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207008"/>
            <a:ext cx="640080" cy="6400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Email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subject,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date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59152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56032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1207008"/>
            <a:ext cx="640080" cy="640080"/>
          </a:xfrm>
          <a:prstGeom prst="ellipse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60604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60604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62272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57800" y="120700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0916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0916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76656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60920" y="1207008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122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+ Why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1228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Label, confidence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top words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working together: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" y="345643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11480" y="3456432"/>
            <a:ext cx="54864" cy="12801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(the brain)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38404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the AI work — feature extraction, model training, scoring, and explaining each decision. Runs as a web service (Flask) so any app can talk to it.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54880" y="345643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456432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on Rails  (the face)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37760" y="38404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web dashboard where you paste an email, see the priority result, browse your history, and check model status.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 —  Real Emails from Public Datasets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54864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emails came from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417320"/>
            <a:ext cx="1554480" cy="3840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1417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65960" y="1417320"/>
            <a:ext cx="1600200" cy="3840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0824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1417320"/>
            <a:ext cx="914400" cy="3840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1417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183794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1837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 Emails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65960" y="1837944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0824" y="18379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company emails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183794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18379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258568"/>
            <a:ext cx="155448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2258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65960" y="2258568"/>
            <a:ext cx="16002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0824" y="22585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&amp; spam reference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2258568"/>
            <a:ext cx="9144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22585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67919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" y="2679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sample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65960" y="2679192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20824" y="26791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66160" y="267919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21024" y="26791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099816"/>
            <a:ext cx="155448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" y="30998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set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65960" y="3099816"/>
            <a:ext cx="16002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20824" y="30998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only (held out)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66160" y="3099816"/>
            <a:ext cx="9144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21024" y="30998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3547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capped at 4,000 emails so the full pipeline could run on a normal laptop.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100584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1005840"/>
            <a:ext cx="54864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email was labelled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92040" y="13716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defined a set of signal phrases for each priority level based on real email patterns: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28032" y="1874520"/>
            <a:ext cx="96012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28032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"urgent", "ASAP", "action required", "breach detected"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28032" y="2587752"/>
            <a:ext cx="96012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25877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28032" y="2843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"deadline", "please respond", "by end of day", "sign-off"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28032" y="3300984"/>
            <a:ext cx="96012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3009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28032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"quick update", "sharing for awareness", "routine check-in"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28032" y="4014216"/>
            <a:ext cx="960120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40142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28032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"FYI", "newsletter", "unsubscribe", "view in browser"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 —  What We Read From Each Email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each email into numbers the AI can work with — 1,460 measurements per email: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53312"/>
            <a:ext cx="54864" cy="33832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426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 (13 features)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182880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1801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domain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" y="233172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recipients, CC, BCC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" y="283464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sent — hour of day, weekday / weekend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" y="333756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length and body length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" y="3840480"/>
            <a:ext cx="182880" cy="1828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/ forward flags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1353312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353312"/>
            <a:ext cx="54864" cy="3383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1426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signals  (6 features)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10712" y="182880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1801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urgent words (e.g. urgent, ASAP)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10712" y="233172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66744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phrase detected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10712" y="283464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6674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Exclamation mark count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10712" y="333756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66744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mark in body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10712" y="384048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66744" y="3813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depth (how many replies deep)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10712" y="4343400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66744" y="43159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mentioned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1353312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1353312"/>
            <a:ext cx="54864" cy="3383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1426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text  (1,441 features)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36792" y="182880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92824" y="1801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+ body combined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36792" y="233172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92824" y="2304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and bigrams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36792" y="283464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92824" y="28072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weighted by how rare they are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3375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92824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very common and very rare words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4645152"/>
            <a:ext cx="850392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0292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13 metadata + 6 urgency + 1,441 TF-IDF = 1,460 features per email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896112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1945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2011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—  Feature Engineering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6583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extract urgency signals and convert email text into numbers (feature_engineering.py)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420624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15568"/>
            <a:ext cx="4206240" cy="27432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urgency_features.py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081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081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648" y="14081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extract_urgency_features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5910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15910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"""Detect urgency signals in each email."""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7739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" y="17739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feats = pd.DataFrame()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19568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956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" y="19568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1396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" y="21396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Count urgent words in subject + body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3225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3225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" y="23225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"urgency_count"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texts.apply(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5054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5054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648" y="25054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t: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kw in KEYWORDS if kw in t)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26883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6883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2648" y="26883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28712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8712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2648" y="28712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30540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0540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2648" y="30540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Detect deadline phrases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2369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236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2648" y="32369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"has_deadline"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texts.str.contains(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4198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4198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2648" y="34198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r"\b(deadline|by eod|due date)\b"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36027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2648" y="36027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).astype(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37856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7856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2648" y="37856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39684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39684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2648" y="39684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"exclamations"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"body"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].apply(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28600" y="41513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151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2648" y="41513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b: str(b).count(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"!"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43342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2648" y="43342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28600" y="45171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28600" y="45171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2648" y="45171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feats.astype(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63440" y="1115568"/>
            <a:ext cx="425196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54880" y="11155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tfidf_features.py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663440" y="14081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14081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47488" y="14081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build_tfidf_features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(df, vectorizer=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63440" y="15910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047488" y="15910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"""Convert email text to a numeric matrix."""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63440" y="17739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63440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047488" y="17739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texts = (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63440" y="19568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1956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047488" y="19568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"subject"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663440" y="21396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63440" y="21396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047488" y="21396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663440" y="23225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23225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047488" y="23225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df[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"body"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].fillna(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25054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63440" y="25054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047488" y="25054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).tolist()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663440" y="26883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63440" y="26883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047488" y="26883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663440" y="28712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63440" y="28712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047488" y="28712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vectorizer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663440" y="30540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63440" y="30540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047488" y="30540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vectorizer = TfidfVectorizer(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663440" y="32369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663440" y="3236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047488" y="32369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max_features=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663440" y="34198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663440" y="34198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047488" y="34198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ngram_range=(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663440" y="36027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6344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047488" y="36027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sublinear_tf=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663440" y="37856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63440" y="37856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047488" y="37856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min_df=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max_df=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0.95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663440" y="39684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63440" y="39684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5047488" y="39684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663440" y="41513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63440" y="4151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047488" y="41513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vectorizer.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fit_transform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(texts)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4663440" y="43342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663440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5047488" y="43342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X = vectorizer.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(texts)</a:t>
            </a:r>
            <a:endParaRPr lang="en-US" sz="900" dirty="0"/>
          </a:p>
        </p:txBody>
      </p:sp>
      <p:sp>
        <p:nvSpPr>
          <p:cNvPr id="121" name="Shape 119"/>
          <p:cNvSpPr/>
          <p:nvPr/>
        </p:nvSpPr>
        <p:spPr>
          <a:xfrm>
            <a:off x="4663440" y="45171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663440" y="45171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5047488" y="45171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X, vectorizer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228600" y="479145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feature extraction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4663440" y="4791456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vectoriser (text to numbers)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Models  —  Three Approaches Compared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trained and compared three models on the same data, with identical evaluation rules: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53312"/>
            <a:ext cx="54864" cy="3200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146304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9848" y="1737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rule-follower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206654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features (words, metadata) push an email toward each priority. Uses a straightforward formula. Fast, transparent — easy to understand and audit.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" y="3127248"/>
            <a:ext cx="2468880" cy="2743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3200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  18.8 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 Meta + TF-IDF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27832" y="135331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27832" y="1353312"/>
            <a:ext cx="54864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92424" y="14630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77640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77640" y="1737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from many trees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92424" y="206654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hundreds of decision trees and lets them vote. Great at catching feature interactions that a linear model misses.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92424" y="3127248"/>
            <a:ext cx="246888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200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  0.7 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92424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 All 1,460 features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35624" y="1353312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35624" y="1353312"/>
            <a:ext cx="54864" cy="3200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0216" y="146304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021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85432" y="14447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85432" y="1737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its mistakes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0216" y="2066544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one by one — each new tree focuses on correcting the errors the previous ones made. Very accurate on structured tabular data.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0216" y="3127248"/>
            <a:ext cx="246888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32004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time:  39.5 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0216" y="34015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used:  All 1,460 features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645152"/>
            <a:ext cx="850392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models: stratified 80/20 split  ·  5-fold cross-validation  ·  random_state = 42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896112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1945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19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2011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—  Model Training &amp; Selection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04672" y="65836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train Logistic Regression and XGBoost, then auto-select the winner (train_models.py)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115568"/>
            <a:ext cx="420624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115568"/>
            <a:ext cx="4206240" cy="27432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train_logistic_regression()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081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081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12648" y="14081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train_logistic_regression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(features):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5910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" y="15910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np.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hstack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([features[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"X_meta"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7739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2648" y="17739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features[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"X_tfidf"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].toarray()])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28600" y="19568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1956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" y="19568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features[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1396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21396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" y="21396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3225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23225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" y="23225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Balance classes before training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5054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25054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12648" y="25054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X_train, y_train =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apply_smote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(X_tr, y_tr)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26883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26883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2648" y="26883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28712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28712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2648" y="28712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LogisticRegression(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30540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" y="30540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2648" y="30540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max_iter=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28600" y="32369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" y="3236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12648" y="32369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solver=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"lbfgs"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" y="34198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8600" y="34198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2648" y="34198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multi_class=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"multinomial"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36027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860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12648" y="360273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37856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37856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12648" y="378561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 y_train)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28600" y="39684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" y="39684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12648" y="39684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28600" y="41513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28600" y="4151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12648" y="415137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joblib.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(model, LR_MODEL_PATH)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28600" y="43342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12648" y="433425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eval_metrics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(y_test, model.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(X_test))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1115568"/>
            <a:ext cx="4251960" cy="370332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54880" y="111556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train_xgboost()  +  auto-select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663440" y="14081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14081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47488" y="14081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xgb.XGBClassifier(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63440" y="15910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15910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047488" y="15910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4663440" y="17739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663440" y="17739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047488" y="17739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learning_rate=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663440" y="19568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63440" y="1956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047488" y="19568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subsample=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colsample_bytree=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663440" y="21396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0" y="21396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047488" y="21396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eval_metric=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"mlogloss"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tree_method=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"hist"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663440" y="23225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63440" y="23225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047488" y="23225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663440" y="25054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663440" y="25054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047488" y="25054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(X_train, y_train, eval_set=[...])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26883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63440" y="26883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047488" y="26883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663440" y="28712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63440" y="28712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047488" y="28712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Auto-select the best model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663440" y="30540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663440" y="30540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047488" y="30540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select_best_model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(results):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4663440" y="32369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663440" y="32369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047488" y="32369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4663440" y="34198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663440" y="34198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047488" y="34198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results,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663440" y="360273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663440" y="360273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047488" y="360273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key=</a:t>
            </a:r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r: r[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"macro_f1"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663440" y="378561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63440" y="37856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047488" y="378561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00" dirty="0"/>
          </a:p>
        </p:txBody>
      </p:sp>
      <p:sp>
        <p:nvSpPr>
          <p:cNvPr id="109" name="Shape 107"/>
          <p:cNvSpPr/>
          <p:nvPr/>
        </p:nvSpPr>
        <p:spPr>
          <a:xfrm>
            <a:off x="4663440" y="396849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663440" y="396849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047488" y="396849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4663440" y="415137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663440" y="415137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5047488" y="415137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Safety net: fallback if accuracy &lt; 0.75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4663440" y="4334256"/>
            <a:ext cx="347472" cy="182880"/>
          </a:xfrm>
          <a:prstGeom prst="rect">
            <a:avLst/>
          </a:prstGeom>
          <a:solidFill>
            <a:srgbClr val="263548"/>
          </a:solidFill>
          <a:ln w="12700">
            <a:solidFill>
              <a:srgbClr val="26354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63440" y="433425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5047488" y="4334256"/>
            <a:ext cx="3867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best[</a:t>
            </a:r>
            <a:pPr indent="0" marL="0">
              <a:buNone/>
            </a:pPr>
            <a:r>
              <a:rPr lang="en-US" sz="9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"accuracy"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&lt; </a:t>
            </a:r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0.75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route_to_fallback()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228600" y="473659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training with SMOTE balancing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4663440" y="473659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setup  +  automatic best-model selection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—  How Well Did Each Model Perform?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800 emails the AI had never seen before. Two scores: Accuracy and Macro F1.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0040" y="1298448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486400" y="129844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298448"/>
            <a:ext cx="54864" cy="9875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74.6% accurate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50992" y="1645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model got 3 out of 4 emails right on data it had never seen — a solid real-world baseline.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0" y="239572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2395728"/>
            <a:ext cx="54864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2487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XGBoost: 100%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50992" y="27432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scores — because our labels were defined by clear signal phrases. The models memorised those signals flawlessly.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349300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0" y="3493008"/>
            <a:ext cx="54864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benchmark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50992" y="3840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gives the most realistic picture of how the system would handle entirely new, unseen emails in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Scores  —  What Do These Numbers Mean?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are used to judge how well a classifier works: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371600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71600"/>
            <a:ext cx="54864" cy="9875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371600"/>
            <a:ext cx="1280160" cy="987552"/>
          </a:xfrm>
          <a:prstGeom prst="rect">
            <a:avLst/>
          </a:prstGeom>
          <a:solidFill>
            <a:srgbClr val="1E40AF">
              <a:alpha val="15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371600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1426464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says CRITICAL, is it right?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17007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the emails labelled Critical, how many were actually Critical?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70078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flags 10 emails as Critical and 8 really are — precision is 80%.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50592"/>
            <a:ext cx="54864" cy="9875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450592"/>
            <a:ext cx="1280160" cy="987552"/>
          </a:xfrm>
          <a:prstGeom prst="rect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450592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2505456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it find all the CRITICAL ones?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27797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all the emails that truly are Critical, how many did the model catch?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277977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there are 10 real Critical emails and the model finds 7 — recall is 70%.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529584"/>
            <a:ext cx="85039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29584"/>
            <a:ext cx="54864" cy="9875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529584"/>
            <a:ext cx="1280160" cy="987552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529584"/>
            <a:ext cx="1280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37360" y="358444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both precise AND thorough?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37360" y="3858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 that balances Precision and Recall. A high F1 means the model is both accurate AND catches most of what matters.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38587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above 0.75 is our target — the model clears it on all 4 classes.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4608576"/>
            <a:ext cx="8503920" cy="256032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6085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"Macro F1" averages the F1 score across all 4 classes equally — so the model cannot hide a weakness in one class by doing well in others.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Go Wrong?  —  A Look at the Mistakes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for Logistic Regression on the 800-email test set.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/ Predicted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801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658722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1658722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94560" y="1658722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1658722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23360" y="1658722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2134210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80160" y="2134210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94560" y="2134210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08960" y="2134210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023360" y="2134210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2609698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280160" y="2609698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801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194560" y="2609698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108960" y="2609698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023360" y="2609698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" y="3085186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280160" y="3085186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801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194560" y="3085186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945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108960" y="3085186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023360" y="3085186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65760" y="3670402"/>
            <a:ext cx="182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367040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63040" y="3670402"/>
            <a:ext cx="182880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91640" y="367040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error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7492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074920" y="160020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074920" y="1600200"/>
            <a:ext cx="54864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181965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1208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632704" y="174650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confused a Critical email for Low. That is the most important safety check.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074920" y="2624328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74920" y="2624328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12080" y="284378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12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632704" y="27706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Low emails were called Normal. These are harmless — the email still gets read, just slightly sooner.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074920" y="3648456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074920" y="3648456"/>
            <a:ext cx="54864" cy="8686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12080" y="3867912"/>
            <a:ext cx="329184" cy="32918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1208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632704" y="37947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Critical slipped into High — still urgent, just one level off. Rarely causes a real problem.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 —  Why Did the AI Give That Label?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doesn't just give a label — it tells you which words drove the decision.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28016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280160"/>
            <a:ext cx="54864" cy="3474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SHAP 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16642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assigns each word or feature a score: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084832"/>
            <a:ext cx="109728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848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score  → pushed the email toward this priority label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496312"/>
            <a:ext cx="109728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49631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score  → pushed the email away from this label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907792"/>
            <a:ext cx="109728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9077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 → had little effect on the decision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3649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because a user can see exactly why an email was labelled Critical — and challenge it if the AI got it wrong.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0050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includes: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251960"/>
            <a:ext cx="365760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2611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"shap_values": { "urgent": 0.42, "asap": 0.31, "breach": 0.28 } }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28016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80160"/>
            <a:ext cx="54864" cy="3474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email labelled "CRITICAL"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46320" y="1664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that pushed the AI toward CRITICAL: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0299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"urgent"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70448" y="2084832"/>
            <a:ext cx="219456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9872" y="20299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24871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"asap"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70448" y="2542032"/>
            <a:ext cx="1623974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49286" y="2487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9443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"breach"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70448" y="2999232"/>
            <a:ext cx="1470355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95667" y="2944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+0.28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34015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"action"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70448" y="3456432"/>
            <a:ext cx="987552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12864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8587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"required"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70448" y="3913632"/>
            <a:ext cx="724205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49517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+0.14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43891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negative scores (pushed away from CRITICAL) are also shown, giving a full picture of the decision.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Product  —  A Tool You Can Actually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54864" cy="3749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(the engine)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44752"/>
            <a:ext cx="548640" cy="21945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447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78992" y="1444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1682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email, get priority + confidence + top reasons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548640" cy="21945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031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" y="2103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/batch_predict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340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up to 100 emails in one call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61488"/>
            <a:ext cx="5486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61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78992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 service is running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5486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198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78992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/model_info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model is active and its score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133088"/>
            <a:ext cx="402336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513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"priority": "critical",  "confidence": 0.91,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"shap_values": { "urgent": 0.42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"model_used": "xgboost" }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005840"/>
            <a:ext cx="54864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 (what you see)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14996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14904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1719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total emails, priority chart, model status card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2494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2240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email — get priority, confidence, and SHAP word reasons instantly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99923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990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3218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breakdown: confidence bar chart + feature scores for that email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74904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739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3968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table of every email classified, with priority badges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Python · scikit-learn · XGBoost · SHAP · Flask  →  Ruby on Rails · Chart.js · Docker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051560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 &amp;  What Comes Next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what worked, what the limits are, and where this project could go from here.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98448"/>
            <a:ext cx="54864" cy="3520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556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model hit 74.6% accuracy on brand-new emails — clearing our target.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4140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confirmed the labelling was consistent.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9981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0723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made the worst mistake: Critical confused for Low — zero times.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581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73075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ships: API, dashboard, SHAP explanations, safety fallback, Docker packaging.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98448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98448"/>
            <a:ext cx="54864" cy="3520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next steps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810512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783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were defined by signal phrases — human validation on a held-out sample is the real next step.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468880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4414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vs Normal is still the main failure point — 59 misclassifications need a sharper signal.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3127248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0998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training data from other domains would improve generalisation beyond Enron/SpamAssassin.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785616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7581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emails (fake-urgent wording) have not been tested — an important open challenge.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36592"/>
            <a:ext cx="91440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736592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are welcome!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47365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U2911515  ·  MSc AI, University of East London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Email Priority Classifier</dc:title>
  <dc:subject>PptxGenJS Presentation</dc:subject>
  <dc:creator>Muhammad Usama Islam</dc:creator>
  <cp:lastModifiedBy>Muhammad Usama Islam</cp:lastModifiedBy>
  <cp:revision>1</cp:revision>
  <dcterms:created xsi:type="dcterms:W3CDTF">2026-05-12T10:23:41Z</dcterms:created>
  <dcterms:modified xsi:type="dcterms:W3CDTF">2026-05-12T10:23:41Z</dcterms:modified>
</cp:coreProperties>
</file>
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1E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0.7463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0.7052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  ·  UNIVERSITY OF EAST LONDON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Priority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640080" y="4773168"/>
            <a:ext cx="6400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937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four-tier classifier — Critical, High, Normal, Low — with SHAP-based explainability and a Ruby on Rails dashboard.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833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U2911515  ·  Supervised dissertation,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5833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DIGITAL TECHNOLOGIES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6144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is the bottleneck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don't lack information — they lack a way to triage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52044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3520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134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day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emails received per knowledge worker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Radicati Group, 2023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52044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148840"/>
            <a:ext cx="3520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134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week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reading and answering email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52044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148840"/>
            <a:ext cx="35204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134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refocus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32104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cost of a single context switch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Mark, Gudith &amp; Klocke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rules fall short.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mail clients still rely on hand-built filters — keyword lists, sender allow-lists, and folder rules — that miss novel phrasings and break the moment a sender or a deadline changes. A single missed "urgent" thread can cost an SLA, a deal, or a viva slot. The case for a learned classifier is straightforward: the signal is there in the message, but humans cannot keep up with the volume.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3657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the productive act — not reading, not replying, not filing.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dissertation sets out to do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deliverables, one end-to-end system. Each is independently evaluable.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5204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164592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53288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label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05840" y="3703320"/>
            <a:ext cx="36576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8679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working corpus from the Enron and SpamAssassin public datasets, then apply a four-tier semi-supervised scheme (Critical · High · Normal · Low) using merged keyword cores and structural cues.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89120" y="2240280"/>
            <a:ext cx="35204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0" y="2240280"/>
            <a:ext cx="164592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3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3288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548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compare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4754880" y="3703320"/>
            <a:ext cx="36576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38679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four classifiers — Logistic Regression as a linear baseline, Random Forest and XGBoost over the full feature matrix, and a fine-tuned DistilBERT — under identical splits and metrics.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138160" y="2240280"/>
            <a:ext cx="35204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38160" y="2240280"/>
            <a:ext cx="164592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0392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3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532888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039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explain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8503920" y="3703320"/>
            <a:ext cx="36576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03920" y="38679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best model behind a Flask REST API, expose it through a Ruby on Rails dashboard, attach SHAP attributions per prediction, and ship a deterministic fallback when accuracy drops below 0.75.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hypothesis  —  </a:t>
            </a:r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trained on lexical + metadata features clears the 0.85 accuracy / 0.82 macro-F1 bar set in the proposal, and a tree ensemble closes the gap left by the linear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two-tier split: Python for inference, Rails for the human-facing surface.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011680" cy="1371600"/>
          </a:xfrm>
          <a:prstGeom prst="rect">
            <a:avLst/>
          </a:prstGeom>
          <a:solidFill>
            <a:srgbClr val="F4F6FA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70048" y="329184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2606040"/>
            <a:ext cx="2011680" cy="1371600"/>
          </a:xfrm>
          <a:prstGeom prst="rect">
            <a:avLst/>
          </a:prstGeom>
          <a:solidFill>
            <a:srgbClr val="16284D"/>
          </a:solidFill>
          <a:ln w="15875">
            <a:solidFill>
              <a:srgbClr val="16284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8346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546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7.2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5468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history · forms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01768" y="329184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303520" y="2606040"/>
            <a:ext cx="2011680" cy="1371600"/>
          </a:xfrm>
          <a:prstGeom prst="rect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8346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· /batch · /health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333488" y="329184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635240" y="2606040"/>
            <a:ext cx="2011680" cy="1371600"/>
          </a:xfrm>
          <a:prstGeom prst="rect">
            <a:avLst/>
          </a:prstGeom>
          <a:solidFill>
            <a:srgbClr val="0F1E3D"/>
          </a:solidFill>
          <a:ln w="15875">
            <a:solidFill>
              <a:srgbClr val="0F1E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8346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8181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best_model.txt · evaluation_report.json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665208" y="329184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966960" y="2606040"/>
            <a:ext cx="2011680" cy="1371600"/>
          </a:xfrm>
          <a:prstGeom prst="rect">
            <a:avLst/>
          </a:prstGeom>
          <a:solidFill>
            <a:srgbClr val="F4F6FA"/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8346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1498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014984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· always-available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40080" y="4434840"/>
            <a:ext cx="36576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2296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822960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recipients, subject, body, date. Optional CC / BCC. Single-shot via /predict; up to 100 emails via /batch_predict.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480560" y="4434840"/>
            <a:ext cx="36576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66344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payload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4663440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label + index, four confidence scores, top SHAP contributions, model name, and processing time in ms.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321040" y="4434840"/>
            <a:ext cx="36576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50392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guards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8503920" y="4800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accuracy &lt; 0.75 or macro-F1 &lt; 0.65, the pipeline marks the run degraded and routes inference through the rule fallback.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multi-arch Docker images (linux/amd64 + linux/arm64) via Docker Compose.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labelling strategy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corpora, semi-supervised labels, and a deliberate cap on size for tractability.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212080" cy="365760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78892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9164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Enron Email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corporate 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SpamAssassin Public 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 + spam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sample (capped)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+ test + 5-fold 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test split (20 %)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68680" y="4800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cap at 4 000?  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fine-tuning at the full Enron volume was infeasible on a single laptop — the cap keeps the pipeline reproducible end-to-end without specialist hardware.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80760" y="219456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 — signal phrases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09360" y="2907792"/>
            <a:ext cx="10972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9077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28712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· asap · action required · breach detected · sev-1 · C-suite sender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83564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09360" y="3621024"/>
            <a:ext cx="109728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43800" y="3584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· please respond · by EOD · sign-off · meeting · viva · supervisor reminder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835640" y="3584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09360" y="4334256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3342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54380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update · sharing for awareness · informational only · routine check-in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8356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09360" y="5047488"/>
            <a:ext cx="109728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5047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543800" y="5010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fyi · newsletter · noreply · digest · unsubscribe · view in browser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835640" y="5010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058400" y="5486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support (n)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assigned by merging hand-curated cores with `data/keywords/*.txt`, then validated against structural cues (folder, sender title, thread depth).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fed in, models trained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1 460 features per email (without BERT). Four learners tested under identical splits.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34924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domain, recipient counts, hour, weekend, subject + body length, reply / forward flags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34924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count, deadline regex, question marks, exclamations, thread depth, attachment markers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34924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4142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features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434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body, unigrams &amp; bigrams, sublinear TF, min_df = 2, max_df = 0.95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534924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9834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74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80360" y="5102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features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3949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embedding from subject + first 256 chars of body, optional (skipped on --no-bert)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54203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706624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2615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05840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only · 5-fold CV · interpretable coefficients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41071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3575304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3483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05840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matrix · captures keyword interactions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427939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4443984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4352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05840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 learner · handles sparse + dense mix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17920" y="514807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5312664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49440" y="5221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058400" y="5239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5532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body text · 3 epochs · capped at 1 000 steps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stratified 80 / 20 split, 5-fold CV on train, fixed random_state = 42.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side by side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set, n = 800. Bars are accuracy and macro-F1.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19456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818120" y="2194560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82712" y="2194560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cleared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82712" y="2487168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0.746 / 0.705 — meets the 0.75 / 0.65 fallback floor on accuracy by a hair, comfortably on F1.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18120" y="3081528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82712" y="3081528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fit perfectly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82712" y="3374136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XGBoost both report 1.000 / 1.000 because the labels are deterministic in keyword space — the trees memorise the rule.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3968496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82712" y="396849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ceiling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82712" y="4261104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LR as the honest upper bound on novel mail. Tree numbers confirm labelling is internally consistent, not generalisation.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18120" y="4855464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82712" y="4855464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gain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982712" y="5148072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trains in 0.7 s, XGBoost in 39.5 s, LR in 18.8 s — XGBoost adds time without adding distinguishable signal here.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— RF / XGBoost ≈ 1.00 reflects rule-consistent labels, not real-world generalisation. The slide that follows examines where the linear model actually slips.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linear model gets it wrong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for Logistic Regression on the 800-email test set.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882189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0008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9816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9624" y="2011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6771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2267712"/>
            <a:ext cx="713232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26771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50008" y="2267712"/>
            <a:ext cx="713232" cy="475488"/>
          </a:xfrm>
          <a:prstGeom prst="rect">
            <a:avLst/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226771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99816" y="2267712"/>
            <a:ext cx="713232" cy="475488"/>
          </a:xfrm>
          <a:prstGeom prst="rect">
            <a:avLst/>
          </a:prstGeom>
          <a:solidFill>
            <a:srgbClr val="FECAC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9816" y="226771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9624" y="2267712"/>
            <a:ext cx="71323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2267712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77977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00200" y="2779776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277977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50008" y="2779776"/>
            <a:ext cx="713232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277977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99816" y="2779776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9816" y="277977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9624" y="2779776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2779776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29184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00200" y="3291840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32918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50008" y="3291840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0008" y="32918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99816" y="3291840"/>
            <a:ext cx="713232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9816" y="32918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49624" y="3291840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9624" y="32918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380390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00200" y="3803904"/>
            <a:ext cx="71323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00200" y="3803904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50008" y="3803904"/>
            <a:ext cx="71323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50008" y="3803904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99816" y="3803904"/>
            <a:ext cx="713232" cy="475488"/>
          </a:xfrm>
          <a:prstGeom prst="rect">
            <a:avLst/>
          </a:prstGeom>
          <a:solidFill>
            <a:srgbClr val="FCA5A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9816" y="3803904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9624" y="3803904"/>
            <a:ext cx="713232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9624" y="3803904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17136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Text 48"/>
          <p:cNvSpPr/>
          <p:nvPr/>
        </p:nvSpPr>
        <p:spPr>
          <a:xfrm>
            <a:off x="731520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matrix is telling us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315200" y="2423160"/>
            <a:ext cx="36576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15200" y="2651760"/>
            <a:ext cx="42519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52360" y="27432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600" dirty="0"/>
          </a:p>
        </p:txBody>
      </p:sp>
      <p:sp>
        <p:nvSpPr>
          <p:cNvPr id="55" name="Text 52"/>
          <p:cNvSpPr/>
          <p:nvPr/>
        </p:nvSpPr>
        <p:spPr>
          <a:xfrm>
            <a:off x="8275320" y="27614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120 "Low" emails get classified as "Normal" — the dominant error.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315200" y="3611880"/>
            <a:ext cx="42519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452360" y="37033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600" dirty="0"/>
          </a:p>
        </p:txBody>
      </p:sp>
      <p:sp>
        <p:nvSpPr>
          <p:cNvPr id="58" name="Text 55"/>
          <p:cNvSpPr/>
          <p:nvPr/>
        </p:nvSpPr>
        <p:spPr>
          <a:xfrm>
            <a:off x="8275320" y="372160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messages leak into High when the urgency cue is softer ("please respond" without "asap").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315200" y="4572000"/>
            <a:ext cx="42519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452360" y="46634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61" name="Text 58"/>
          <p:cNvSpPr/>
          <p:nvPr/>
        </p:nvSpPr>
        <p:spPr>
          <a:xfrm>
            <a:off x="8275320" y="4681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Low confusions, which is the costliest direction. The model never makes that swap.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7315200" y="5669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this — 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costly errors (escalating Critical to a lower tier) are rare; the cheap errors (Low ↔ Normal) make up most of the gap to 0.85.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ml/models/evaluation_report.json (eval date 2026-04-05)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0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Priority Classification  ·  M. Usama Islam  ·  MSc AI, University of East London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notebook to a working product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surface, a Rails dashboard, and SHAP attributions on every prediction.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surface (Flask)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5760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9689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44368" y="2560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single email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962656"/>
            <a:ext cx="5760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6265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/batch_predict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44368" y="2926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emails per call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576072" cy="25603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2841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3291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44368" y="3291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+ active model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694176"/>
            <a:ext cx="576072" cy="25603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9417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98448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/model_info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4436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accuracy, F1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059936"/>
            <a:ext cx="576072" cy="25603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59936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98448" y="4023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44368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models + metrics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425696"/>
            <a:ext cx="5349240" cy="16916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480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" y="4736592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"priority":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"critical"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"shap_values": { "urgent":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"model_used":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"xgboost"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21488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dashboard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2560320"/>
            <a:ext cx="5303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5603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651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41080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29809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cards, priority pie chart, model status, recent classifications.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3474720"/>
            <a:ext cx="5303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4747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form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41080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/classifications/new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46520" y="38953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email → priority, confidence, top SHAP terms in one screen.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4389120"/>
            <a:ext cx="5303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43891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view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4108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/classifications/:id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46520" y="48097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chart, per-feature SHAP bar chart, raw model output.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63640" y="5303520"/>
            <a:ext cx="5303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53035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5394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641080" y="5413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/classifications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46520" y="57241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table, priority badges, links back to each result.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3.10 · scikit-learn · XGBoost · HuggingFace · SHAP · Flask  →  Ruby 3.3 · Rails 7.2 · SQLite · Chart.js · HTTParty  →  Docker Compose.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·  10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limits, and where this goes next.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6400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76148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6974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clears the proposal floor — 0.746 accuracy / 0.705 macro-F1 on held-out mail.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502152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confirm the labelling is internally consistent — perfect fit on rule-derived labels.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37083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30682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errors (downgrading Critical) are rare — 0 Critical→Low and only 31 Critical→High in 800.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517550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511149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ships: API, dashboard, SHAP attributions, deterministic fallback, multi-arch images.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4884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217920" y="2761488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2697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keyword-derived. The next honest gain comes from human-validated labels on a held-out slice.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217920" y="356616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7960" y="350215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was capped at 1 000 fine-tuning steps for laptop tractability — accuracy headroom likely remains.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17920" y="4370832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37960" y="430682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"Low" vs "Normal" is the failure mode that matters: 59 misclassifications stem from soft, social mail.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17920" y="517550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37960" y="511149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untested — sender spoofing and obfuscated subjects are an open thread.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0080" y="6035040"/>
            <a:ext cx="4572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8680" y="6035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583680" y="6035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U2911515  ·  MSc AI, UEL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University of East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Email Priority Classification Using Machine Learning</dc:title>
  <dc:subject>PptxGenJS Presentation</dc:subject>
  <dc:creator>Muhammad Usama Islam</dc:creator>
  <cp:lastModifiedBy>Muhammad Usama Islam</cp:lastModifiedBy>
  <cp:revision>1</cp:revision>
  <dcterms:created xsi:type="dcterms:W3CDTF">2026-05-02T08:01:13Z</dcterms:created>
  <dcterms:modified xsi:type="dcterms:W3CDTF">2026-05-02T08:01:13Z</dcterms:modified>
</cp:coreProperties>
</file>